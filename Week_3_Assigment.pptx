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_rels/slideLayout4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_rels/presentation.xml.rels" ContentType="application/vnd.openxmlformats-package.relationships+xml"/>
  <Override PartName="/ppt/media/image1.png" ContentType="image/png"/>
  <Override PartName="/ppt/media/image2.jpeg" ContentType="image/jpeg"/>
  <Override PartName="/ppt/media/image4.png" ContentType="image/png"/>
  <Override PartName="/ppt/media/image3.jpeg" ContentType="image/jpeg"/>
  <Override PartName="/ppt/media/image5.png" ContentType="image/png"/>
  <Override PartName="/ppt/media/image6.png" ContentType="image/png"/>
  <Override PartName="/ppt/media/image7.png" ContentType="image/png"/>
  <Override PartName="/ppt/slides/slide1.xml" ContentType="application/vnd.openxmlformats-officedocument.presentationml.slide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</p:sldIdLst>
  <p:sldSz cx="12192000" cy="6858000"/>
  <p:notesSz cx="7772400" cy="10058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jpeg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jpeg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jpeg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jpeg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 Slide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0" name="Google Shape;110;p4" descr="A close up of a sign&#10;&#10;Description automatically generated"/>
          <p:cNvPicPr/>
          <p:nvPr/>
        </p:nvPicPr>
        <p:blipFill>
          <a:blip r:embed="rId2"/>
          <a:stretch/>
        </p:blipFill>
        <p:spPr>
          <a:xfrm>
            <a:off x="10072800" y="78120"/>
            <a:ext cx="1800000" cy="575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" name="Rectangle 14"/>
          <p:cNvSpPr/>
          <p:nvPr/>
        </p:nvSpPr>
        <p:spPr>
          <a:xfrm>
            <a:off x="0" y="0"/>
            <a:ext cx="9829440" cy="717120"/>
          </a:xfrm>
          <a:prstGeom prst="rect">
            <a:avLst/>
          </a:prstGeom>
          <a:solidFill>
            <a:srgbClr val="213264"/>
          </a:solidFill>
          <a:ln>
            <a:solidFill>
              <a:srgbClr val="213264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IN" sz="1870" strike="noStrike" u="none">
              <a:solidFill>
                <a:schemeClr val="lt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2" name="Rectangle 18"/>
          <p:cNvSpPr/>
          <p:nvPr/>
        </p:nvSpPr>
        <p:spPr>
          <a:xfrm>
            <a:off x="9888840" y="-360"/>
            <a:ext cx="111960" cy="731880"/>
          </a:xfrm>
          <a:prstGeom prst="rect">
            <a:avLst/>
          </a:prstGeom>
          <a:solidFill>
            <a:srgbClr val="7fba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IN" sz="1870" strike="noStrike" u="none">
              <a:solidFill>
                <a:schemeClr val="lt1"/>
              </a:solidFill>
              <a:effectLst/>
              <a:uFillTx/>
              <a:latin typeface="Arial"/>
              <a:ea typeface="Arial"/>
            </a:endParaRPr>
          </a:p>
        </p:txBody>
      </p:sp>
      <p:pic>
        <p:nvPicPr>
          <p:cNvPr id="3" name="Picture 30" descr="A blue and white background&#10;&#10;Description automatically generated with medium confidence"/>
          <p:cNvPicPr/>
          <p:nvPr/>
        </p:nvPicPr>
        <p:blipFill>
          <a:blip r:embed="rId3">
            <a:alphaModFix amt="16000"/>
          </a:blip>
          <a:srcRect l="0" t="24723" r="1620" b="63695"/>
          <a:stretch/>
        </p:blipFill>
        <p:spPr>
          <a:xfrm>
            <a:off x="0" y="0"/>
            <a:ext cx="9838800" cy="723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" name="Rectangle 1"/>
          <p:cNvSpPr/>
          <p:nvPr/>
        </p:nvSpPr>
        <p:spPr>
          <a:xfrm>
            <a:off x="11925360" y="-360"/>
            <a:ext cx="266400" cy="731880"/>
          </a:xfrm>
          <a:prstGeom prst="rect">
            <a:avLst/>
          </a:prstGeom>
          <a:solidFill>
            <a:srgbClr val="fed5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IN" sz="1870" strike="noStrike" u="none">
              <a:solidFill>
                <a:schemeClr val="lt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7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7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7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7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7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 and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oogle Shape;110;p4" descr="A close up of a sign&#10;&#10;Description automatically generated"/>
          <p:cNvPicPr/>
          <p:nvPr/>
        </p:nvPicPr>
        <p:blipFill>
          <a:blip r:embed="rId2"/>
          <a:stretch/>
        </p:blipFill>
        <p:spPr>
          <a:xfrm>
            <a:off x="10072800" y="78120"/>
            <a:ext cx="1800000" cy="575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" name="Rectangle 14"/>
          <p:cNvSpPr/>
          <p:nvPr/>
        </p:nvSpPr>
        <p:spPr>
          <a:xfrm>
            <a:off x="0" y="0"/>
            <a:ext cx="9829440" cy="717120"/>
          </a:xfrm>
          <a:prstGeom prst="rect">
            <a:avLst/>
          </a:prstGeom>
          <a:solidFill>
            <a:srgbClr val="213264"/>
          </a:solidFill>
          <a:ln>
            <a:solidFill>
              <a:srgbClr val="213264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IN" sz="1870" strike="noStrike" u="none">
              <a:solidFill>
                <a:schemeClr val="lt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9" name="Rectangle 18"/>
          <p:cNvSpPr/>
          <p:nvPr/>
        </p:nvSpPr>
        <p:spPr>
          <a:xfrm>
            <a:off x="9888840" y="-360"/>
            <a:ext cx="111960" cy="731880"/>
          </a:xfrm>
          <a:prstGeom prst="rect">
            <a:avLst/>
          </a:prstGeom>
          <a:solidFill>
            <a:srgbClr val="7fba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IN" sz="1870" strike="noStrike" u="none">
              <a:solidFill>
                <a:schemeClr val="lt1"/>
              </a:solidFill>
              <a:effectLst/>
              <a:uFillTx/>
              <a:latin typeface="Arial"/>
              <a:ea typeface="Arial"/>
            </a:endParaRPr>
          </a:p>
        </p:txBody>
      </p:sp>
      <p:pic>
        <p:nvPicPr>
          <p:cNvPr id="10" name="Picture 30" descr="A blue and white background&#10;&#10;Description automatically generated with medium confidence"/>
          <p:cNvPicPr/>
          <p:nvPr/>
        </p:nvPicPr>
        <p:blipFill>
          <a:blip r:embed="rId3">
            <a:alphaModFix amt="16000"/>
          </a:blip>
          <a:srcRect l="0" t="24723" r="1620" b="63695"/>
          <a:stretch/>
        </p:blipFill>
        <p:spPr>
          <a:xfrm>
            <a:off x="0" y="0"/>
            <a:ext cx="9838800" cy="723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" name="Rectangle 1"/>
          <p:cNvSpPr/>
          <p:nvPr/>
        </p:nvSpPr>
        <p:spPr>
          <a:xfrm>
            <a:off x="11925360" y="-360"/>
            <a:ext cx="266400" cy="731880"/>
          </a:xfrm>
          <a:prstGeom prst="rect">
            <a:avLst/>
          </a:prstGeom>
          <a:solidFill>
            <a:srgbClr val="fed5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IN" sz="1870" strike="noStrike" u="none">
              <a:solidFill>
                <a:schemeClr val="lt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7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</a:t>
            </a:r>
            <a:r>
              <a:rPr b="0" lang="en-US" sz="187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title text format</a:t>
            </a:r>
            <a:endParaRPr b="0" lang="en-US" sz="18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7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7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7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7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 and body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oogle Shape;110;p4" descr="A close up of a sign&#10;&#10;Description automatically generated"/>
          <p:cNvPicPr/>
          <p:nvPr/>
        </p:nvPicPr>
        <p:blipFill>
          <a:blip r:embed="rId2"/>
          <a:stretch/>
        </p:blipFill>
        <p:spPr>
          <a:xfrm>
            <a:off x="10072800" y="78120"/>
            <a:ext cx="1800000" cy="575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" name="Rectangle 14"/>
          <p:cNvSpPr/>
          <p:nvPr/>
        </p:nvSpPr>
        <p:spPr>
          <a:xfrm>
            <a:off x="0" y="0"/>
            <a:ext cx="9829440" cy="717120"/>
          </a:xfrm>
          <a:prstGeom prst="rect">
            <a:avLst/>
          </a:prstGeom>
          <a:solidFill>
            <a:srgbClr val="213264"/>
          </a:solidFill>
          <a:ln>
            <a:solidFill>
              <a:srgbClr val="213264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IN" sz="1870" strike="noStrike" u="none">
              <a:solidFill>
                <a:schemeClr val="lt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16" name="Rectangle 18"/>
          <p:cNvSpPr/>
          <p:nvPr/>
        </p:nvSpPr>
        <p:spPr>
          <a:xfrm>
            <a:off x="9888840" y="-360"/>
            <a:ext cx="111960" cy="731880"/>
          </a:xfrm>
          <a:prstGeom prst="rect">
            <a:avLst/>
          </a:prstGeom>
          <a:solidFill>
            <a:srgbClr val="7fba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IN" sz="1870" strike="noStrike" u="none">
              <a:solidFill>
                <a:schemeClr val="lt1"/>
              </a:solidFill>
              <a:effectLst/>
              <a:uFillTx/>
              <a:latin typeface="Arial"/>
              <a:ea typeface="Arial"/>
            </a:endParaRPr>
          </a:p>
        </p:txBody>
      </p:sp>
      <p:pic>
        <p:nvPicPr>
          <p:cNvPr id="17" name="Picture 30" descr="A blue and white background&#10;&#10;Description automatically generated with medium confidence"/>
          <p:cNvPicPr/>
          <p:nvPr/>
        </p:nvPicPr>
        <p:blipFill>
          <a:blip r:embed="rId3">
            <a:alphaModFix amt="16000"/>
          </a:blip>
          <a:srcRect l="0" t="24723" r="1620" b="63695"/>
          <a:stretch/>
        </p:blipFill>
        <p:spPr>
          <a:xfrm>
            <a:off x="0" y="0"/>
            <a:ext cx="9838800" cy="723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" name="Rectangle 1"/>
          <p:cNvSpPr/>
          <p:nvPr/>
        </p:nvSpPr>
        <p:spPr>
          <a:xfrm>
            <a:off x="11925360" y="-360"/>
            <a:ext cx="266400" cy="731880"/>
          </a:xfrm>
          <a:prstGeom prst="rect">
            <a:avLst/>
          </a:prstGeom>
          <a:solidFill>
            <a:srgbClr val="fed5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IN" sz="1870" strike="noStrike" u="none">
              <a:solidFill>
                <a:schemeClr val="lt1"/>
              </a:solidFill>
              <a:effectLst/>
              <a:uFillTx/>
              <a:latin typeface="Arial"/>
              <a:ea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_Title Slide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oogle Shape;110;p4" descr="A close up of a sign&#10;&#10;Description automatically generated"/>
          <p:cNvPicPr/>
          <p:nvPr/>
        </p:nvPicPr>
        <p:blipFill>
          <a:blip r:embed="rId2"/>
          <a:stretch/>
        </p:blipFill>
        <p:spPr>
          <a:xfrm>
            <a:off x="10072800" y="78120"/>
            <a:ext cx="1800000" cy="575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" name="Rectangle 14"/>
          <p:cNvSpPr/>
          <p:nvPr/>
        </p:nvSpPr>
        <p:spPr>
          <a:xfrm>
            <a:off x="0" y="0"/>
            <a:ext cx="9829440" cy="717120"/>
          </a:xfrm>
          <a:prstGeom prst="rect">
            <a:avLst/>
          </a:prstGeom>
          <a:solidFill>
            <a:srgbClr val="213264"/>
          </a:solidFill>
          <a:ln>
            <a:solidFill>
              <a:srgbClr val="213264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IN" sz="1870" strike="noStrike" u="none">
              <a:solidFill>
                <a:schemeClr val="lt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21" name="Rectangle 18"/>
          <p:cNvSpPr/>
          <p:nvPr/>
        </p:nvSpPr>
        <p:spPr>
          <a:xfrm>
            <a:off x="9888840" y="-360"/>
            <a:ext cx="111960" cy="731880"/>
          </a:xfrm>
          <a:prstGeom prst="rect">
            <a:avLst/>
          </a:prstGeom>
          <a:solidFill>
            <a:srgbClr val="7fba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IN" sz="1870" strike="noStrike" u="none">
              <a:solidFill>
                <a:schemeClr val="lt1"/>
              </a:solidFill>
              <a:effectLst/>
              <a:uFillTx/>
              <a:latin typeface="Arial"/>
              <a:ea typeface="Arial"/>
            </a:endParaRPr>
          </a:p>
        </p:txBody>
      </p:sp>
      <p:pic>
        <p:nvPicPr>
          <p:cNvPr id="22" name="Picture 30" descr="A blue and white background&#10;&#10;Description automatically generated with medium confidence"/>
          <p:cNvPicPr/>
          <p:nvPr/>
        </p:nvPicPr>
        <p:blipFill>
          <a:blip r:embed="rId3">
            <a:alphaModFix amt="16000"/>
          </a:blip>
          <a:srcRect l="0" t="24723" r="1620" b="63695"/>
          <a:stretch/>
        </p:blipFill>
        <p:spPr>
          <a:xfrm>
            <a:off x="0" y="0"/>
            <a:ext cx="9838800" cy="723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3" name="Rectangle 1"/>
          <p:cNvSpPr/>
          <p:nvPr/>
        </p:nvSpPr>
        <p:spPr>
          <a:xfrm>
            <a:off x="11925360" y="-360"/>
            <a:ext cx="266400" cy="731880"/>
          </a:xfrm>
          <a:prstGeom prst="rect">
            <a:avLst/>
          </a:prstGeom>
          <a:solidFill>
            <a:srgbClr val="fed5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IN" sz="1870" strike="noStrike" u="none">
              <a:solidFill>
                <a:schemeClr val="lt1"/>
              </a:solidFill>
              <a:effectLst/>
              <a:uFillTx/>
              <a:latin typeface="Arial"/>
              <a:ea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hyperlink" Target="https://www.freepik.com/" TargetMode="External"/><Relationship Id="rId2" Type="http://schemas.openxmlformats.org/officeDocument/2006/relationships/image" Target="../media/image6.png"/><Relationship Id="rId3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1" descr="A person sitting at a desk with a computer&#10;&#10;Description automatically generated"/>
          <p:cNvPicPr/>
          <p:nvPr/>
        </p:nvPicPr>
        <p:blipFill>
          <a:blip r:embed="rId1"/>
          <a:stretch/>
        </p:blipFill>
        <p:spPr>
          <a:xfrm>
            <a:off x="-685800" y="-22824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5" name="Rectangle: Rounded Corners 3"/>
          <p:cNvSpPr/>
          <p:nvPr/>
        </p:nvSpPr>
        <p:spPr>
          <a:xfrm>
            <a:off x="5873760" y="584280"/>
            <a:ext cx="4673160" cy="977400"/>
          </a:xfrm>
          <a:prstGeom prst="roundRect">
            <a:avLst>
              <a:gd name="adj" fmla="val 16667"/>
            </a:avLst>
          </a:prstGeom>
          <a:solidFill>
            <a:srgbClr val="ebeef9"/>
          </a:solidFill>
          <a:ln>
            <a:solidFill>
              <a:srgbClr val="ffffff">
                <a:lumMod val="85000"/>
              </a:srgbClr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IN" sz="1870" strike="noStrike" u="none">
              <a:solidFill>
                <a:schemeClr val="lt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26" name="TextBox 4"/>
          <p:cNvSpPr/>
          <p:nvPr/>
        </p:nvSpPr>
        <p:spPr>
          <a:xfrm rot="4200">
            <a:off x="4571280" y="2746800"/>
            <a:ext cx="6185160" cy="63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>
              <a:lnSpc>
                <a:spcPct val="100000"/>
              </a:lnSpc>
            </a:pPr>
            <a:r>
              <a:rPr b="1" lang="en-US" sz="3600" strike="noStrike" u="none">
                <a:solidFill>
                  <a:schemeClr val="lt1"/>
                </a:solidFill>
                <a:effectLst/>
                <a:uFillTx/>
                <a:latin typeface="Calibri"/>
                <a:ea typeface="Arial"/>
              </a:rPr>
              <a:t>Carbon Emission Prediction </a:t>
            </a:r>
            <a:r>
              <a:rPr b="1" lang="en-IN" sz="3600" strike="noStrike" u="none">
                <a:solidFill>
                  <a:schemeClr val="lt1"/>
                </a:solidFill>
                <a:effectLst/>
                <a:uFillTx/>
                <a:latin typeface="Calibri"/>
                <a:ea typeface="Arial"/>
              </a:rPr>
              <a:t> 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Droid Sans Devanagari"/>
            </a:endParaRPr>
          </a:p>
        </p:txBody>
      </p:sp>
      <p:grpSp>
        <p:nvGrpSpPr>
          <p:cNvPr id="27" name="Group 5"/>
          <p:cNvGrpSpPr/>
          <p:nvPr/>
        </p:nvGrpSpPr>
        <p:grpSpPr>
          <a:xfrm>
            <a:off x="6890400" y="741960"/>
            <a:ext cx="2639880" cy="663840"/>
            <a:chOff x="6890400" y="741960"/>
            <a:chExt cx="2639880" cy="663840"/>
          </a:xfrm>
        </p:grpSpPr>
        <p:pic>
          <p:nvPicPr>
            <p:cNvPr id="28" name="Picture 6" descr="A close up of a logo&#10;&#10;Description automatically generated"/>
            <p:cNvPicPr/>
            <p:nvPr/>
          </p:nvPicPr>
          <p:blipFill>
            <a:blip r:embed="rId2"/>
            <a:stretch/>
          </p:blipFill>
          <p:spPr>
            <a:xfrm>
              <a:off x="8267400" y="869040"/>
              <a:ext cx="1262880" cy="41040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29" name="Picture 7" descr="A yellow and red shell logo&#10;&#10;Description automatically generated"/>
            <p:cNvPicPr/>
            <p:nvPr/>
          </p:nvPicPr>
          <p:blipFill>
            <a:blip r:embed="rId3"/>
            <a:stretch/>
          </p:blipFill>
          <p:spPr>
            <a:xfrm>
              <a:off x="6890400" y="741960"/>
              <a:ext cx="789840" cy="663840"/>
            </a:xfrm>
            <a:prstGeom prst="rect">
              <a:avLst/>
            </a:prstGeom>
            <a:noFill/>
            <a:ln w="0">
              <a:noFill/>
            </a:ln>
          </p:spPr>
        </p:pic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Box 1"/>
          <p:cNvSpPr/>
          <p:nvPr/>
        </p:nvSpPr>
        <p:spPr>
          <a:xfrm>
            <a:off x="319320" y="914400"/>
            <a:ext cx="3566880" cy="42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IN" sz="2200" strike="noStrike" u="none">
                <a:solidFill>
                  <a:srgbClr val="213163"/>
                </a:solidFill>
                <a:effectLst/>
                <a:uFillTx/>
                <a:latin typeface="Arial"/>
                <a:ea typeface="Arial"/>
              </a:rPr>
              <a:t>Learning Objectives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TextBox 2"/>
          <p:cNvSpPr/>
          <p:nvPr/>
        </p:nvSpPr>
        <p:spPr>
          <a:xfrm>
            <a:off x="199800" y="6135480"/>
            <a:ext cx="795600" cy="27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799"/>
              </a:spcAft>
            </a:pPr>
            <a:r>
              <a:rPr b="1" lang="en-IN" sz="12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Source : 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TextBox 3"/>
          <p:cNvSpPr/>
          <p:nvPr/>
        </p:nvSpPr>
        <p:spPr>
          <a:xfrm>
            <a:off x="880560" y="6135480"/>
            <a:ext cx="1842120" cy="27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799"/>
              </a:spcAft>
            </a:pPr>
            <a:r>
              <a:rPr b="0" lang="en-IN" sz="1200" strike="noStrike" u="sng">
                <a:solidFill>
                  <a:srgbClr val="0000ff"/>
                </a:solidFill>
                <a:effectLst/>
                <a:uFillTx/>
                <a:latin typeface="Arial"/>
                <a:ea typeface="Arial"/>
                <a:hlinkClick r:id="rId1"/>
              </a:rPr>
              <a:t>www.freepik.com/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33" name="Straight Connector 4"/>
          <p:cNvCxnSpPr/>
          <p:nvPr/>
        </p:nvCxnSpPr>
        <p:spPr>
          <a:xfrm>
            <a:off x="0" y="6055200"/>
            <a:ext cx="12192120" cy="360"/>
          </a:xfrm>
          <a:prstGeom prst="straightConnector1">
            <a:avLst/>
          </a:prstGeom>
          <a:ln w="12700">
            <a:solidFill>
              <a:srgbClr val="ffffff">
                <a:lumMod val="85000"/>
              </a:srgbClr>
            </a:solidFill>
            <a:round/>
          </a:ln>
        </p:spPr>
      </p:cxnSp>
      <p:pic>
        <p:nvPicPr>
          <p:cNvPr id="34" name="Picture 5" descr="A ladder leading to a large yellow circle&#10;&#10;Description automatically generated"/>
          <p:cNvPicPr/>
          <p:nvPr/>
        </p:nvPicPr>
        <p:blipFill>
          <a:blip r:embed="rId2">
            <a:alphaModFix amt="85000"/>
          </a:blip>
          <a:srcRect l="13765" t="6135" r="13652" b="0"/>
          <a:stretch/>
        </p:blipFill>
        <p:spPr>
          <a:xfrm>
            <a:off x="7345800" y="1442880"/>
            <a:ext cx="4500360" cy="4632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5" name="TextBox 6"/>
          <p:cNvSpPr/>
          <p:nvPr/>
        </p:nvSpPr>
        <p:spPr>
          <a:xfrm>
            <a:off x="8839080" y="3168720"/>
            <a:ext cx="1503360" cy="63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799"/>
              </a:spcAft>
            </a:pPr>
            <a:r>
              <a:rPr b="1" lang="en-IN" sz="35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GOAL</a:t>
            </a:r>
            <a:endParaRPr b="0" lang="en-US" sz="3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"/>
          <p:cNvSpPr txBox="1"/>
          <p:nvPr/>
        </p:nvSpPr>
        <p:spPr>
          <a:xfrm>
            <a:off x="685800" y="1600200"/>
            <a:ext cx="6172200" cy="4309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pPr marL="216000" indent="-216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Callibri"/>
              </a:rPr>
              <a:t>Understand the causes and impact of carbon emissions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Callibri"/>
            </a:endParaRPr>
          </a:p>
          <a:p>
            <a:pPr marL="216000" indent="-216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Callibri"/>
              </a:rPr>
              <a:t>Explore and clean real-world carbon emission datasets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Callibri"/>
            </a:endParaRPr>
          </a:p>
          <a:p>
            <a:pPr marL="216000" indent="-216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Callibri"/>
              </a:rPr>
              <a:t>Apply machine learning models to predict emission levels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Callibri"/>
            </a:endParaRPr>
          </a:p>
          <a:p>
            <a:pPr marL="216000" indent="-216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Callibri"/>
              </a:rPr>
              <a:t>Analyze key factors influencing emission trends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Callibri"/>
            </a:endParaRPr>
          </a:p>
          <a:p>
            <a:pPr marL="216000" indent="-216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Callibri"/>
              </a:rPr>
              <a:t>Improve data handling and model evaluation skills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Cal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Box 2"/>
          <p:cNvSpPr/>
          <p:nvPr/>
        </p:nvSpPr>
        <p:spPr>
          <a:xfrm>
            <a:off x="135720" y="1067760"/>
            <a:ext cx="610236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2400" strike="noStrike" u="none">
                <a:solidFill>
                  <a:srgbClr val="213163"/>
                </a:solidFill>
                <a:effectLst/>
                <a:uFillTx/>
                <a:latin typeface="Arial"/>
                <a:ea typeface="Arial"/>
              </a:rPr>
              <a:t>T</a:t>
            </a:r>
            <a:r>
              <a:rPr b="1" lang="en-IN" sz="2400" strike="noStrike" u="none">
                <a:solidFill>
                  <a:srgbClr val="213163"/>
                </a:solidFill>
                <a:effectLst/>
                <a:uFillTx/>
                <a:latin typeface="Arial"/>
                <a:ea typeface="Arial"/>
              </a:rPr>
              <a:t>ools and Technology 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"/>
          <p:cNvSpPr txBox="1"/>
          <p:nvPr/>
        </p:nvSpPr>
        <p:spPr>
          <a:xfrm>
            <a:off x="685800" y="1828800"/>
            <a:ext cx="9829800" cy="3657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pPr marL="216000" indent="-216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en-US" sz="1800" strike="noStrike" u="none">
                <a:solidFill>
                  <a:srgbClr val="000000"/>
                </a:solidFill>
                <a:effectLst/>
                <a:uFillTx/>
                <a:latin typeface="Callobri"/>
              </a:rPr>
              <a:t>Python – 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Callobri"/>
              </a:rPr>
              <a:t>For data preprocessing, analysis, and machine learning model building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Callobri"/>
            </a:endParaRPr>
          </a:p>
          <a:p>
            <a:pPr marL="216000" indent="-216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en-US" sz="1800" strike="noStrike" u="none">
                <a:solidFill>
                  <a:srgbClr val="000000"/>
                </a:solidFill>
                <a:effectLst/>
                <a:uFillTx/>
                <a:latin typeface="Callobri"/>
              </a:rPr>
              <a:t>Pandas &amp; NumPy –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Callobri"/>
              </a:rPr>
              <a:t> To handle and manipulate large datasets efficiently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Callobri"/>
            </a:endParaRPr>
          </a:p>
          <a:p>
            <a:pPr marL="216000" indent="-216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en-US" sz="1800" strike="noStrike" u="none">
                <a:solidFill>
                  <a:srgbClr val="000000"/>
                </a:solidFill>
                <a:effectLst/>
                <a:uFillTx/>
                <a:latin typeface="Callobri"/>
              </a:rPr>
              <a:t>Scikit-learn 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Callobri"/>
              </a:rPr>
              <a:t>– For training and evaluating ML models like Linear Regression, Random Forest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Callobri"/>
            </a:endParaRPr>
          </a:p>
          <a:p>
            <a:pPr marL="216000" indent="-216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en-US" sz="1800" strike="noStrike" u="none">
                <a:solidFill>
                  <a:srgbClr val="000000"/>
                </a:solidFill>
                <a:effectLst/>
                <a:uFillTx/>
                <a:latin typeface="Callobri"/>
              </a:rPr>
              <a:t>Matplotlib &amp; Seaborn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Callobri"/>
              </a:rPr>
              <a:t> – To visualize emission trends and model performance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Callobri"/>
            </a:endParaRPr>
          </a:p>
          <a:p>
            <a:pPr marL="216000" indent="-216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en-US" sz="1800" strike="noStrike" u="none">
                <a:solidFill>
                  <a:srgbClr val="000000"/>
                </a:solidFill>
                <a:effectLst/>
                <a:uFillTx/>
                <a:latin typeface="Callobri"/>
              </a:rPr>
              <a:t>Jupyter Notebook / Google Colab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Callobri"/>
              </a:rPr>
              <a:t> – As the primary development environment for experimentation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Callo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extBox 2"/>
          <p:cNvSpPr/>
          <p:nvPr/>
        </p:nvSpPr>
        <p:spPr>
          <a:xfrm>
            <a:off x="268200" y="1014480"/>
            <a:ext cx="610236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2400" strike="noStrike" u="none">
                <a:solidFill>
                  <a:srgbClr val="213163"/>
                </a:solidFill>
                <a:effectLst/>
                <a:uFillTx/>
                <a:latin typeface="Arial"/>
                <a:ea typeface="Arial"/>
              </a:rPr>
              <a:t>Methodology 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"/>
          <p:cNvSpPr txBox="1"/>
          <p:nvPr/>
        </p:nvSpPr>
        <p:spPr>
          <a:xfrm>
            <a:off x="1600200" y="2057400"/>
            <a:ext cx="8001000" cy="3886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pPr marL="216000" indent="-216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Wingdings" charset="2"/>
              <a:buChar char=""/>
            </a:pPr>
            <a:r>
              <a:rPr b="1" lang="en-US" sz="2000" strike="noStrike" u="none">
                <a:solidFill>
                  <a:srgbClr val="000000"/>
                </a:solidFill>
                <a:effectLst/>
                <a:uFillTx/>
                <a:latin typeface="Callibri"/>
              </a:rPr>
              <a:t>Data Collection:</a:t>
            </a: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Callibri"/>
              </a:rPr>
              <a:t> Acquired emission data from public sources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Callibri"/>
            </a:endParaRPr>
          </a:p>
          <a:p>
            <a:pPr marL="216000" indent="-216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Wingdings" charset="2"/>
              <a:buChar char=""/>
            </a:pPr>
            <a:r>
              <a:rPr b="1" lang="en-US" sz="2000" strike="noStrike" u="none">
                <a:solidFill>
                  <a:srgbClr val="000000"/>
                </a:solidFill>
                <a:effectLst/>
                <a:uFillTx/>
                <a:latin typeface="Callibri"/>
              </a:rPr>
              <a:t>Preprocessing:</a:t>
            </a: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Callibri"/>
              </a:rPr>
              <a:t> Cleaned and prepared the data for analysis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Callibri"/>
            </a:endParaRPr>
          </a:p>
          <a:p>
            <a:pPr marL="216000" indent="-216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Wingdings" charset="2"/>
              <a:buChar char=""/>
            </a:pPr>
            <a:r>
              <a:rPr b="1" lang="en-US" sz="2000" strike="noStrike" u="none">
                <a:solidFill>
                  <a:srgbClr val="000000"/>
                </a:solidFill>
                <a:effectLst/>
                <a:uFillTx/>
                <a:latin typeface="Callibri"/>
              </a:rPr>
              <a:t>EDA</a:t>
            </a: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Callibri"/>
              </a:rPr>
              <a:t>: Explored patterns and visualized key insights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Callibri"/>
            </a:endParaRPr>
          </a:p>
          <a:p>
            <a:pPr marL="216000" indent="-216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Wingdings" charset="2"/>
              <a:buChar char=""/>
            </a:pPr>
            <a:r>
              <a:rPr b="1" lang="en-US" sz="2000" strike="noStrike" u="none">
                <a:solidFill>
                  <a:srgbClr val="000000"/>
                </a:solidFill>
                <a:effectLst/>
                <a:uFillTx/>
                <a:latin typeface="Callibri"/>
              </a:rPr>
              <a:t>Model Training:</a:t>
            </a: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Callibri"/>
              </a:rPr>
              <a:t> Applied ML algorithms for prediction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Callibri"/>
            </a:endParaRPr>
          </a:p>
          <a:p>
            <a:pPr marL="216000" indent="-216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Wingdings" charset="2"/>
              <a:buChar char=""/>
            </a:pPr>
            <a:r>
              <a:rPr b="1" lang="en-US" sz="2000" strike="noStrike" u="none">
                <a:solidFill>
                  <a:srgbClr val="000000"/>
                </a:solidFill>
                <a:effectLst/>
                <a:uFillTx/>
                <a:latin typeface="Callibri"/>
              </a:rPr>
              <a:t>Evaluation:</a:t>
            </a: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Callibri"/>
              </a:rPr>
              <a:t> Tested model performance using accuracy metrics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Callibri"/>
            </a:endParaRPr>
          </a:p>
          <a:p>
            <a:pPr marL="216000" indent="-216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Wingdings" charset="2"/>
              <a:buChar char=""/>
            </a:pPr>
            <a:endParaRPr b="0" lang="en-US" sz="2000" strike="noStrike" u="none">
              <a:solidFill>
                <a:srgbClr val="000000"/>
              </a:solidFill>
              <a:effectLst/>
              <a:uFillTx/>
              <a:latin typeface="Cal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extBox 2"/>
          <p:cNvSpPr/>
          <p:nvPr/>
        </p:nvSpPr>
        <p:spPr>
          <a:xfrm>
            <a:off x="914400" y="1007640"/>
            <a:ext cx="2945160" cy="82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2400" strike="noStrike" u="none">
                <a:solidFill>
                  <a:srgbClr val="213163"/>
                </a:solidFill>
                <a:effectLst/>
                <a:uFillTx/>
                <a:latin typeface="Arial"/>
                <a:ea typeface="Arial"/>
              </a:rPr>
              <a:t>Problem Statement:  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"/>
          <p:cNvSpPr txBox="1"/>
          <p:nvPr/>
        </p:nvSpPr>
        <p:spPr>
          <a:xfrm>
            <a:off x="1828800" y="2286000"/>
            <a:ext cx="8915400" cy="2057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Anal</a:t>
            </a: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ysis </a:t>
            </a: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of </a:t>
            </a: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coun</a:t>
            </a: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try-</a:t>
            </a: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spec</a:t>
            </a: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ific </a:t>
            </a: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data </a:t>
            </a: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and </a:t>
            </a: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deve</a:t>
            </a: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lopm</a:t>
            </a: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ent </a:t>
            </a: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of </a:t>
            </a: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mac</a:t>
            </a: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hine </a:t>
            </a: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lear</a:t>
            </a: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ning </a:t>
            </a: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mod</a:t>
            </a: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els </a:t>
            </a: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in </a:t>
            </a: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orde</a:t>
            </a: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r to </a:t>
            </a: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pred</a:t>
            </a: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ict </a:t>
            </a: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CO2 </a:t>
            </a: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emis</a:t>
            </a: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sion</a:t>
            </a: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 </a:t>
            </a: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from </a:t>
            </a: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coun</a:t>
            </a: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try </a:t>
            </a: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para</a:t>
            </a: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met</a:t>
            </a: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ers. </a:t>
            </a: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The </a:t>
            </a: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proj</a:t>
            </a: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ect </a:t>
            </a: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uses </a:t>
            </a: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the </a:t>
            </a: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publi</a:t>
            </a: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cly </a:t>
            </a: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avail</a:t>
            </a: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able </a:t>
            </a: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data</a:t>
            </a: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set </a:t>
            </a: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Clim</a:t>
            </a: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ate </a:t>
            </a: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Cha</a:t>
            </a: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nge </a:t>
            </a: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Data </a:t>
            </a: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from </a:t>
            </a: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the </a:t>
            </a: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Worl</a:t>
            </a: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 </a:t>
            </a: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Ban</a:t>
            </a: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k </a:t>
            </a: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Gro</a:t>
            </a: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up.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TextBox 2"/>
          <p:cNvSpPr/>
          <p:nvPr/>
        </p:nvSpPr>
        <p:spPr>
          <a:xfrm>
            <a:off x="685800" y="1114560"/>
            <a:ext cx="6102360" cy="48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2600" strike="noStrike" u="none">
                <a:solidFill>
                  <a:srgbClr val="213163"/>
                </a:solidFill>
                <a:effectLst/>
                <a:uFillTx/>
                <a:latin typeface="Arial"/>
                <a:ea typeface="Arial"/>
              </a:rPr>
              <a:t>Solution:  </a:t>
            </a:r>
            <a:endParaRPr b="0" lang="en-US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"/>
          <p:cNvSpPr txBox="1"/>
          <p:nvPr/>
        </p:nvSpPr>
        <p:spPr>
          <a:xfrm>
            <a:off x="914400" y="2286000"/>
            <a:ext cx="10287000" cy="3006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pPr marL="216000" indent="-216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Callibri"/>
              </a:rPr>
              <a:t>Cleaned and processed climate and economic data from the World Bank (1990–2011).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Callibri"/>
            </a:endParaRPr>
          </a:p>
          <a:p>
            <a:pPr marL="216000" indent="-216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Callibri"/>
              </a:rPr>
              <a:t>Performed data analysis to identify key factors influencing CO₂ emissions.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Callibri"/>
            </a:endParaRPr>
          </a:p>
          <a:p>
            <a:pPr marL="216000" indent="-216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Callibri"/>
              </a:rPr>
              <a:t>Built and trained a Random Forest Regressor model to accurately predict emissions.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Callibri"/>
            </a:endParaRPr>
          </a:p>
          <a:p>
            <a:pPr marL="216000" indent="-216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endParaRPr b="0" lang="en-US" sz="2000" strike="noStrike" u="none">
              <a:solidFill>
                <a:srgbClr val="000000"/>
              </a:solidFill>
              <a:effectLst/>
              <a:uFillTx/>
              <a:latin typeface="Cal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TextBox 2"/>
          <p:cNvSpPr/>
          <p:nvPr/>
        </p:nvSpPr>
        <p:spPr>
          <a:xfrm>
            <a:off x="69840" y="914400"/>
            <a:ext cx="610236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2400" strike="noStrike" u="none">
                <a:solidFill>
                  <a:srgbClr val="213163"/>
                </a:solidFill>
                <a:effectLst/>
                <a:uFillTx/>
                <a:latin typeface="Arial"/>
                <a:ea typeface="Arial"/>
              </a:rPr>
              <a:t>Screenshot of Output:  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6" name="" descr=""/>
          <p:cNvPicPr/>
          <p:nvPr/>
        </p:nvPicPr>
        <p:blipFill>
          <a:blip r:embed="rId1"/>
          <a:stretch/>
        </p:blipFill>
        <p:spPr>
          <a:xfrm>
            <a:off x="2743200" y="1369800"/>
            <a:ext cx="7981560" cy="49399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extBox 2"/>
          <p:cNvSpPr/>
          <p:nvPr/>
        </p:nvSpPr>
        <p:spPr>
          <a:xfrm>
            <a:off x="149040" y="988200"/>
            <a:ext cx="6102360" cy="42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2200" strike="noStrike" u="none">
                <a:solidFill>
                  <a:srgbClr val="213163"/>
                </a:solidFill>
                <a:effectLst/>
                <a:uFillTx/>
                <a:latin typeface="Arial"/>
                <a:ea typeface="Arial"/>
              </a:rPr>
              <a:t>Conclusion:  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"/>
          <p:cNvSpPr txBox="1"/>
          <p:nvPr/>
        </p:nvSpPr>
        <p:spPr>
          <a:xfrm>
            <a:off x="1371600" y="1600200"/>
            <a:ext cx="9601200" cy="4343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pPr marL="216000" indent="-216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Callibri"/>
              </a:rPr>
              <a:t>CO₂ emissions per capita are projected to decrease in developed countries like the USA and Russia, reflecting efforts in sustainability, clean energy adoption, and stricter emission regulations.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Callibri"/>
            </a:endParaRPr>
          </a:p>
          <a:p>
            <a:pPr marL="216000" indent="-216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Callibri"/>
              </a:rPr>
              <a:t>India and Pakistan show a rising trend, indicating the environmental impact of rapid industrialization and economic growth.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Callibri"/>
            </a:endParaRPr>
          </a:p>
          <a:p>
            <a:pPr marL="216000" indent="-216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Callibri"/>
              </a:rPr>
              <a:t>The forecast highlights a convergence in global emission patterns, though countries are at different stages of development.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Callibri"/>
            </a:endParaRPr>
          </a:p>
          <a:p>
            <a:pPr marL="216000" indent="-216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Callibri"/>
              </a:rPr>
              <a:t>These insights emphasize the need for balanced growth, where emerging economies like India adopt greener technologies while sustaining development.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Callibri"/>
            </a:endParaRPr>
          </a:p>
          <a:p>
            <a:pPr marL="216000" indent="-216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Cal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Session 01 Design Thinking &amp; Critical Thinking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>Session 01 Design Thinking &amp; Critical Thinking</Template>
  <TotalTime>33</TotalTime>
  <Application>LibreOffice/25.2.2.2$Linux_X86_64 LibreOffice_project/520$Build-2</Application>
  <AppVersion>15.0000</AppVersion>
  <Words>31</Words>
  <Paragraphs>11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2024-12-31T09:40:01Z</dcterms:created>
  <dc:creator>Mahesh Kurhe</dc:creator>
  <dc:description/>
  <dc:language>en-US</dc:language>
  <cp:lastModifiedBy/>
  <dcterms:modified xsi:type="dcterms:W3CDTF">2025-07-05T11:44:59Z</dcterms:modified>
  <cp:revision>6</cp:revision>
  <dc:subject/>
  <dc:title>PowerPoint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Widescreen</vt:lpwstr>
  </property>
  <property fmtid="{D5CDD505-2E9C-101B-9397-08002B2CF9AE}" pid="3" name="Slides">
    <vt:i4>8</vt:i4>
  </property>
</Properties>
</file>